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22060"/>
          </a:solidFill>
          <a:ln w="12700">
            <a:solidFill>
              <a:srgbClr val="12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54480"/>
            <a:ext cx="109728" cy="2194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64008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100584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28016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645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192024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228600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265176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92608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329184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365760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411480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0058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RiskLens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85800" y="18105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VaR &amp; CVaR Framework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VaR model passed the Kupiec test.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failed everything else.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3337560"/>
            <a:ext cx="1920240" cy="1143000"/>
          </a:xfrm>
          <a:prstGeom prst="rect">
            <a:avLst/>
          </a:prstGeom>
          <a:solidFill>
            <a:srgbClr val="12206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401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$217K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5800" y="39319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VaR 99%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(Historical)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834640" y="3337560"/>
            <a:ext cx="1920240" cy="1143000"/>
          </a:xfrm>
          <a:prstGeom prst="rect">
            <a:avLst/>
          </a:prstGeom>
          <a:solidFill>
            <a:srgbClr val="12206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34640" y="3401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41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834640" y="39319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VaR Breaches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vs 25.2 Expected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983480" y="3337560"/>
            <a:ext cx="1920240" cy="1143000"/>
          </a:xfrm>
          <a:prstGeom prst="rect">
            <a:avLst/>
          </a:prstGeom>
          <a:solidFill>
            <a:srgbClr val="122060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3401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−$2.5M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83480" y="39319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GFC Hypothetical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Instant Loss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912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Kush Bhanushali  ·  MS Quantitative Finance  ·  Python · pandas · NumPy · SciPy · Plotly · FRED API · Basel III / FRTB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22060"/>
          </a:solidFill>
          <a:ln w="12700">
            <a:solidFill>
              <a:srgbClr val="122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 Built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End-to-end market risk framework  ·  Python  ·  Basel III / FRTB  ·  2015–2024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1591056" cy="2834640"/>
          </a:xfrm>
          <a:prstGeom prst="rect">
            <a:avLst/>
          </a:prstGeom>
          <a:solidFill>
            <a:srgbClr val="12206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987552"/>
            <a:ext cx="1591056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1152144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81051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Pipeline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377440"/>
            <a:ext cx="1225296" cy="0"/>
          </a:xfrm>
          <a:prstGeom prst="line">
            <a:avLst/>
          </a:prstGeom>
          <a:noFill/>
          <a:ln w="9525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5 equities — Stooq.com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92608" y="277977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3 FX pairs — FRED API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92608" y="3090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2,516 trading days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2608" y="3401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Log returns + dollar P&amp;L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01368" y="2404872"/>
            <a:ext cx="2788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3956" y="2276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61388" y="987552"/>
            <a:ext cx="1591056" cy="2834640"/>
          </a:xfrm>
          <a:prstGeom prst="rect">
            <a:avLst/>
          </a:prstGeom>
          <a:solidFill>
            <a:srgbClr val="12206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61388" y="987552"/>
            <a:ext cx="1591056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82596" y="1152144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2596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34540" y="181051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VaR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Models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44268" y="2377440"/>
            <a:ext cx="1225296" cy="0"/>
          </a:xfrm>
          <a:prstGeom prst="line">
            <a:avLst/>
          </a:prstGeom>
          <a:noFill/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2828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Historical Simulation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52828" y="277977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Parametric (Normal)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052828" y="3090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Monte Carlo 10K sims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052828" y="3401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252-day rolling window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61588" y="2404872"/>
            <a:ext cx="2788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94176" y="2276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21608" y="987552"/>
            <a:ext cx="1591056" cy="2834640"/>
          </a:xfrm>
          <a:prstGeom prst="rect">
            <a:avLst/>
          </a:prstGeom>
          <a:solidFill>
            <a:srgbClr val="122060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21608" y="987552"/>
            <a:ext cx="1591056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42816" y="1152144"/>
            <a:ext cx="548640" cy="5486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42816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94760" y="181051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CVaR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/ 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04488" y="2377440"/>
            <a:ext cx="1225296" cy="0"/>
          </a:xfrm>
          <a:prstGeom prst="line">
            <a:avLst/>
          </a:prstGeom>
          <a:noFill/>
          <a:ln w="9525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13048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Expected Shortfall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813048" y="277977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FRTB 97.5% level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813048" y="3090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Component CVaR by asset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813048" y="3401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Rolling 1-year CVaR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321808" y="2404872"/>
            <a:ext cx="2788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54396" y="2276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1828" y="987552"/>
            <a:ext cx="1591056" cy="2834640"/>
          </a:xfrm>
          <a:prstGeom prst="rect">
            <a:avLst/>
          </a:prstGeom>
          <a:solidFill>
            <a:srgbClr val="12206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1828" y="987552"/>
            <a:ext cx="1591056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03036" y="1152144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03036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554980" y="181051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Back-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testing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4708" y="2377440"/>
            <a:ext cx="1225296" cy="0"/>
          </a:xfrm>
          <a:prstGeom prst="line">
            <a:avLst/>
          </a:prstGeom>
          <a:noFill/>
          <a:ln w="9525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3268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Kupiec POF Test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573268" y="277977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Christoffersen CC Test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573268" y="3090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Basel Traffic Light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73268" y="3401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Breach clustering analysis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082028" y="2404872"/>
            <a:ext cx="2788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14616" y="2276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242048" y="987552"/>
            <a:ext cx="1591056" cy="2834640"/>
          </a:xfrm>
          <a:prstGeom prst="rect">
            <a:avLst/>
          </a:prstGeom>
          <a:solidFill>
            <a:srgbClr val="12206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242048" y="987552"/>
            <a:ext cx="1591056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63256" y="1152144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63256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315200" y="181051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Stress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Testing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24928" y="2377440"/>
            <a:ext cx="1225296" cy="0"/>
          </a:xfrm>
          <a:prstGeom prst="line">
            <a:avLst/>
          </a:prstGeom>
          <a:noFill/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33488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Q4 2018 Selloff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33488" y="277977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COVID Crash 2020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33488" y="3090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Rate Hike Shock 2022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333488" y="3401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· 4 hypothetical shocks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0" y="3950208"/>
            <a:ext cx="9144000" cy="1188720"/>
          </a:xfrm>
          <a:prstGeom prst="rect">
            <a:avLst/>
          </a:prstGeom>
          <a:solidFill>
            <a:srgbClr val="091234"/>
          </a:solidFill>
          <a:ln w="12700">
            <a:solidFill>
              <a:srgbClr val="09123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0233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B82F6"/>
                </a:solidFill>
              </a:rPr>
              <a:t>TECH STACK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Python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14300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4300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pandas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96596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96596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</a:rPr>
              <a:t>NumPy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78892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8892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C4899"/>
                </a:solidFill>
              </a:rPr>
              <a:t>SciPy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61188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1188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Plotly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43484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3484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FRED API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2004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Basel III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14300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14300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FRTB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96596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96596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Kupiec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78892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8892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Christoffersen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61188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1188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Monte Carlo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43484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3484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Stooq.com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5394960" y="40233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59E0B"/>
                </a:solidFill>
              </a:rPr>
              <a:t>DATA SOURCES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394960" y="42611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📈  </a:t>
            </a:r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Stooq.com  </a:t>
            </a:r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NVDA · JPM · XOM · JNJ · SPY (daily OHLCV)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394960" y="4535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🏦  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FRED API  </a:t>
            </a:r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EUR/USD · GBP/USD · JPY/USD (daily FX rates)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394960" y="4809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📐  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Portfolio  </a:t>
            </a:r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60% equities · 40% FX · $10M notional · log returns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Portfolio Overview — 10 Years, 8 Assets, $10M</a:t>
            </a:r>
            <a:endParaRPr lang="en-US" sz="2000" dirty="0"/>
          </a:p>
        </p:txBody>
      </p:sp>
      <p:pic>
        <p:nvPicPr>
          <p:cNvPr id="7" name="Image 0" descr="/home/claude/phas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32688"/>
            <a:ext cx="4134689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89320" y="987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</a:rPr>
              <a:t>KEY METRICS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89320" y="1298448"/>
            <a:ext cx="1389888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1298448"/>
            <a:ext cx="138988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408176"/>
            <a:ext cx="138988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2,516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89320" y="1781251"/>
            <a:ext cx="138988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Trading Days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498080" y="1298448"/>
            <a:ext cx="1389888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0" y="1298448"/>
            <a:ext cx="138988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1408176"/>
            <a:ext cx="138988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8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98080" y="1781251"/>
            <a:ext cx="138988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Assets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89320" y="2194560"/>
            <a:ext cx="1389888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2194560"/>
            <a:ext cx="138988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304288"/>
            <a:ext cx="138988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$10M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989320" y="2677363"/>
            <a:ext cx="138988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Notional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498080" y="2194560"/>
            <a:ext cx="1389888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98080" y="2194560"/>
            <a:ext cx="138988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0" y="2304288"/>
            <a:ext cx="138988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150×+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498080" y="2677363"/>
            <a:ext cx="138988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NVDA Return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989320" y="3108960"/>
            <a:ext cx="2971800" cy="148132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989320" y="3108960"/>
            <a:ext cx="54864" cy="14813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Portfolio P&amp;L Highlights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26480" y="349300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VaR 95%: </a:t>
            </a:r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$126K daily loss threshold
</a:t>
            </a:r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VaR 99%: </a:t>
            </a:r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$217K — fat left tail confirmed
</a:t>
            </a:r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Portfolio: </a:t>
            </a:r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$10M → $32M over 10 years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Data: Stooq.com (equities) · FRED API (FX) · 60% equities / 40% FX by notional weight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Value at Risk (VaR) — the daily loss you won't exceed 99% of the time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4114800" cy="3749040"/>
          </a:xfrm>
          <a:prstGeom prst="rect">
            <a:avLst/>
          </a:prstGeom>
          <a:solidFill>
            <a:srgbClr val="0D1B4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960120"/>
            <a:ext cx="41148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What is Value at Risk (VaR)?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1719072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37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The question it answers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1956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If markets move against me tomorrow, what is the worst loss I should expect on a normal day?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377440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95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6151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Rank all historical daily P&amp;L from worst to best. VaR 99% is the loss at the 1st percentile — only 1% of days were worse.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03580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54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Three methods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3273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Historical (use real past data), Parametric (assume normal distribution), Monte Carlo (simulate thousands of random scenarios).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694176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12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The regulatory context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Banks must calculate VaR daily under Basel III. If actual losses exceed VaR too often, regulators impose higher capital charges.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53712" y="960120"/>
            <a:ext cx="43891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960120"/>
            <a:ext cx="43891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097280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0096" y="114300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What I Found in This Portfolio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36592" y="1719072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7373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Historical VaR 99% = $217K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82896" y="1956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On any given day, there is a 1% chance the portfolio loses more than $217K. This is the most conservative of the three methods.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2377440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3957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13% fat-tail premium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896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Historical VaR is $217K vs Parametric's $199K. The gap exists because real returns have heavier tails than a normal distribution.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36592" y="303580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054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VaR 95% = $126K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82896" y="3273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At the 95% confidence level, losses exceed $126K only 1 day in 20. Used as a lower-stakes daily risk check.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36592" y="3694176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37124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Q-Q plot confirms non-normality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82896" y="3931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The quantile-quantile plot shows returns deviate significantly from the normal fit at the extremes — fat tails are real.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RiskLens  ·  Kush Bhanushali  ·  MS Quantitative Finance  ·  Basel III / FRTB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VaR Model Comparison — Three Methods, One Portfolio</a:t>
            </a:r>
            <a:endParaRPr lang="en-US" sz="2000" dirty="0"/>
          </a:p>
        </p:txBody>
      </p:sp>
      <p:pic>
        <p:nvPicPr>
          <p:cNvPr id="7" name="Image 0" descr="/home/claude/phas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767" y="932688"/>
            <a:ext cx="4088465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1168" y="4041648"/>
            <a:ext cx="2816352" cy="658368"/>
          </a:xfrm>
          <a:prstGeom prst="rect">
            <a:avLst/>
          </a:prstGeom>
          <a:solidFill>
            <a:srgbClr val="0D1B4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01168" y="4041648"/>
            <a:ext cx="281635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411480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Historical  </a:t>
            </a:r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Non-parametric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92608" y="431596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95%: $126K   </a:t>
            </a:r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99%: $217K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92608" y="450799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Highest 99% — fat tails captured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3182112" y="4041648"/>
            <a:ext cx="2816352" cy="658368"/>
          </a:xfrm>
          <a:prstGeom prst="rect">
            <a:avLst/>
          </a:prstGeom>
          <a:solidFill>
            <a:srgbClr val="0D1B4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82112" y="4041648"/>
            <a:ext cx="281635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73552" y="411480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Parametric  </a:t>
            </a:r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Normal dist.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73552" y="431596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95%: $140K   </a:t>
            </a:r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99%: $199K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273552" y="450799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Underestimates tail by 8.3%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163056" y="4041648"/>
            <a:ext cx="2816352" cy="658368"/>
          </a:xfrm>
          <a:prstGeom prst="rect">
            <a:avLst/>
          </a:prstGeom>
          <a:solidFill>
            <a:srgbClr val="0D1B4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63056" y="4041648"/>
            <a:ext cx="281635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54496" y="411480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Monte Carlo  </a:t>
            </a:r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10,000 sims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54496" y="431596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95%: $135K   </a:t>
            </a:r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99%: $192K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254496" y="450799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Most conservative at 95%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Q-Q plot confirms fat tails — Historical VaR 99% = $217K is 13% above Parametric. Normal distribution materially understates tail risk.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CVaR / Expected Shortfall — the average loss in the worst 2.5% of scenarios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4114800" cy="3749040"/>
          </a:xfrm>
          <a:prstGeom prst="rect">
            <a:avLst/>
          </a:prstGeom>
          <a:solidFill>
            <a:srgbClr val="0D1B4B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960120"/>
            <a:ext cx="41148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475488" cy="47548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What is CVaR / Expected Shortfall?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1719072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37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The problem with VaR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1956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VaR tells you the threshold — 'you won't lose more than $217K on 99% of days.' But it says nothing about how bad the worst 1% of days actually are.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377440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95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What CVaR adds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6151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CVaR (also called Expected Shortfall) averages all the losses beyond the VaR threshold. It answers: 'when things go really wrong, how bad does it get?'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035808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54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Why regulators prefer 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3273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Basel FRTB (2019) replaced VaR 99% with ES 97.5% as the standard capital measure. ES is more sensitive to tail severity and penalises extreme losses properly.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694176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12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Component CVaR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You can decompose ES by asset to see which position drives tail risk. This reveals hidden concentrations that portfolio-level VaR obscures.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53712" y="960120"/>
            <a:ext cx="43891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960120"/>
            <a:ext cx="438912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097280"/>
            <a:ext cx="475488" cy="47548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0096" y="114300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What I Found in This Portfolio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36592" y="1719072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7373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CVaR is 1.35–1.44× VaR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82896" y="1956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At every confidence level, ES exceeds VaR by 35–44%. FRTB's switch from VaR 99% to ES 97.5% captures $59K more potential loss.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2377440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3957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NVDA = 39.9% of tail risk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896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At only 15% portfolio weight, NVDA drives 39.9% of Expected Shortfall. A single AI regulation event could breach risk limits.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36592" y="3035808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054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JPY/USD is a genuine hedge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82896" y="3273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Component CVaR for JPY/USD = −0.8%. The yen position actively reduces tail risk — it's not just uncorrelated, it's protective.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36592" y="3694176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37124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COVID spike: $0.50M 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82896" y="3931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Rolling 1-year CVaR spiked from $0.18M to $0.50M in March 2020 — a 3× jump in just weeks, showing tail risk is time-varying.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RiskLens  ·  Kush Bhanushali  ·  MS Quantitative Finance  ·  Basel III / FRTB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Expected Shortfall (CVaR) — What VaR Doesn't Tell You</a:t>
            </a:r>
            <a:endParaRPr lang="en-US" sz="2000" dirty="0"/>
          </a:p>
        </p:txBody>
      </p:sp>
      <p:pic>
        <p:nvPicPr>
          <p:cNvPr id="7" name="Image 0" descr="/home/claude/phas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32688"/>
            <a:ext cx="5020235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40275" y="987552"/>
            <a:ext cx="3666565" cy="1261872"/>
          </a:xfrm>
          <a:prstGeom prst="rect">
            <a:avLst/>
          </a:prstGeom>
          <a:solidFill>
            <a:srgbClr val="0D1B4B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40275" y="987552"/>
            <a:ext cx="54864" cy="1261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68291" y="1033272"/>
            <a:ext cx="34836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Why Basel FRTB Switched to 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68291" y="1307592"/>
            <a:ext cx="348368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VaR only tells you the loss threshold.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ES averages ALL losses beyond it.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FRTB mandates ES at 97.5%, replacing VaR 99%.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0275" y="2340864"/>
          <a:ext cx="3666565" cy="1234440"/>
        </p:xfrm>
        <a:graphic>
          <a:graphicData uri="http://schemas.openxmlformats.org/drawingml/2006/table">
            <a:tbl>
              <a:tblPr/>
              <a:tblGrid>
                <a:gridCol w="1173301"/>
                <a:gridCol w="806644"/>
                <a:gridCol w="953307"/>
                <a:gridCol w="733313"/>
              </a:tblGrid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VaR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C4899"/>
                          </a:solidFill>
                        </a:rPr>
                        <a:t>CVaR / 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ES/VaR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95%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$127K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$183K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1.44×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97.5% (FRTB)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$162K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$221K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1.36×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99%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$217K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$298K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1.37×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340275" y="3657600"/>
            <a:ext cx="3666565" cy="53035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31715" y="3675888"/>
            <a:ext cx="352940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⚠  NVDA (15% weight) = 39.9% of tail risk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JPY/USD (10% weight) = −0.8% (genuine hedge)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Rolling 1-year CVaR spiked from $0.18M → $0.50M during COVID (2020) — 3× the normal baseline. Tail risk is not stable over time.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Backtesting — checking whether your risk model predicted reality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4114800" cy="3749040"/>
          </a:xfrm>
          <a:prstGeom prst="rect">
            <a:avLst/>
          </a:prstGeom>
          <a:solidFill>
            <a:srgbClr val="0D1B4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96012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What is Backtesting?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1719072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37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The basic idea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1956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After building a VaR model, you test it: compare what the model predicted each day against what actually happened. Did losses exceed VaR more or less than expected?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377440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95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Kupiec POF Test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6151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Tests whether the number of VaR breaches is statistically reasonable. At VaR 99%, you expect 1% of days to breach — too many or too few both signal model failure.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035808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54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Christoffersen CC Test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3273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Goes further: checks whether breaches cluster in time. A good model should have independent breaches. Clustered breaches mean the model is blind to volatility regimes.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694176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12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Basel Traffic Light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Regulators categorise models: Green (0–4 breaches/year, 3× capital multiplier), Yellow (5–9), Red (10+, 4× multiplier). Red zone means higher capital requirements.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53712" y="960120"/>
            <a:ext cx="43891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960120"/>
            <a:ext cx="43891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097280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0096" y="114300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What I Found in This Portfolio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36592" y="1719072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7373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Kupiec Test: PASS (VaR 95%)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82896" y="1956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At the 95% confidence level, the model performs statistically well — breach frequency is within expected bounds (p = 0.87).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2377440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3957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Christoffersen Test: FAIL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896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Clustering ratio = 2.45×. Breaches are not independent — they arrive in groups during stress periods, not randomly throughout the year.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36592" y="3035808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054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VaR 99% Overall: FAIL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82896" y="3273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41 actual breaches vs 25.2 expected. The model significantly underestimates tail risk at the 99% level over the full 9-year period.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36592" y="3694176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37124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Basel RED zone — 4.0× multiplier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82896" y="3931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10+ annual breaches puts the portfolio in Basel's Red zone. This would trigger a 4× capital multiplier on market risk RWA in a real bank.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RiskLens  ·  Kush Bhanushali  ·  MS Quantitative Finance  ·  Basel III / FRTB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Backtesting — The Model Fails When It Matters Most</a:t>
            </a:r>
            <a:endParaRPr lang="en-US" sz="2000" dirty="0"/>
          </a:p>
        </p:txBody>
      </p:sp>
      <p:pic>
        <p:nvPicPr>
          <p:cNvPr id="7" name="Image 0" descr="/home/claude/phas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32688"/>
            <a:ext cx="4991548" cy="31821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11588" y="1005840"/>
            <a:ext cx="3695252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11588" y="1005840"/>
            <a:ext cx="54864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39604" y="1060704"/>
            <a:ext cx="3512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Kupiec POF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39604" y="1298448"/>
            <a:ext cx="3512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 PASS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39604" y="1517904"/>
            <a:ext cx="3512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VaR 95%: p = 0.87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311588" y="1847088"/>
            <a:ext cx="3695252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11588" y="1847088"/>
            <a:ext cx="54864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39604" y="1901952"/>
            <a:ext cx="3512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Christoffersen CC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39604" y="2139696"/>
            <a:ext cx="3512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 FAIL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39604" y="2359152"/>
            <a:ext cx="3512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Clustering ratio = 2.45×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311588" y="2688336"/>
            <a:ext cx="3695252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11588" y="2688336"/>
            <a:ext cx="54864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39604" y="2743200"/>
            <a:ext cx="3512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VaR 99% Overall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439604" y="2980944"/>
            <a:ext cx="3512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 FAIL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39604" y="3200400"/>
            <a:ext cx="3512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41 actual vs 25.2 expected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311588" y="3566160"/>
            <a:ext cx="3695252" cy="566928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84740" y="3593592"/>
            <a:ext cx="35855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🔴  Basel RED Zone — 4.0× Capital Multiplier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384740" y="3840480"/>
            <a:ext cx="35855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</a:rPr>
              <a:t>Breaches: 10+  →  Regulatory penalty triggered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COVID cluster: 8 breaches in a single month (Feb–Mar 2020). The model cannot distinguish calm from stressed regimes — Christoffersen test FAIL confirms regime-blindness.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Stress Testing — What Happens When Models Break Down</a:t>
            </a:r>
            <a:endParaRPr lang="en-US" sz="2000" dirty="0"/>
          </a:p>
        </p:txBody>
      </p:sp>
      <p:pic>
        <p:nvPicPr>
          <p:cNvPr id="7" name="Image 0" descr="/home/claude/phas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32688"/>
            <a:ext cx="4999390" cy="3182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19430" y="987552"/>
            <a:ext cx="36874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</a:rPr>
              <a:t>SHOCK SCENARIOS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19430" y="1316736"/>
            <a:ext cx="368741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19430" y="1316736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7446" y="1353312"/>
            <a:ext cx="35045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GFC 2008 (Hypothetical)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47446" y="1591056"/>
            <a:ext cx="3504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−$2.515M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25% of notional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19430" y="1975104"/>
            <a:ext cx="368741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19430" y="1975104"/>
            <a:ext cx="5486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7446" y="2011680"/>
            <a:ext cx="35045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Equity Crash −20%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47446" y="2249424"/>
            <a:ext cx="3504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−$1.375M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13.75% of notional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19430" y="2633472"/>
            <a:ext cx="368741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19430" y="2633472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7446" y="2670048"/>
            <a:ext cx="35045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AI Regulation Shock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47446" y="2907792"/>
            <a:ext cx="3504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−$0.475M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NVDA single event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19430" y="3291840"/>
            <a:ext cx="368741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19430" y="3291840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7446" y="3328416"/>
            <a:ext cx="35045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Energy Shock +30%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447446" y="3566160"/>
            <a:ext cx="3504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+$0.025M 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XOM hedge benefit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COVID stress multiplier = 2.4× VaR. Rate Hike Shock 2022 = 2.4× VaR. Historical VaR is not stress VaR — they measure fundamentally different risk regimes.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04672"/>
          </a:xfrm>
          <a:prstGeom prst="rect">
            <a:avLst/>
          </a:prstGeom>
          <a:solidFill>
            <a:srgbClr val="122060"/>
          </a:solidFill>
          <a:ln w="12700">
            <a:solidFill>
              <a:srgbClr val="122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6400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Interactive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Live Plotly HTML  ·  6 charts  ·  Full code on GitHub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5029200" cy="3474720"/>
          </a:xfrm>
          <a:prstGeom prst="rect">
            <a:avLst/>
          </a:prstGeom>
          <a:solidFill>
            <a:srgbClr val="122060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5029200" cy="320040"/>
          </a:xfrm>
          <a:prstGeom prst="rect">
            <a:avLst/>
          </a:prstGeom>
          <a:solidFill>
            <a:srgbClr val="1E3A5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972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0972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042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github.com/kushbhanushali/risklens  ·  var_dashboard.html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" y="1426464"/>
            <a:ext cx="1508760" cy="1389888"/>
          </a:xfrm>
          <a:prstGeom prst="rect">
            <a:avLst/>
          </a:prstGeom>
          <a:solidFill>
            <a:srgbClr val="0A15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426464"/>
            <a:ext cx="1508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" y="1700784"/>
            <a:ext cx="1234440" cy="658368"/>
          </a:xfrm>
          <a:prstGeom prst="rect">
            <a:avLst/>
          </a:prstGeom>
          <a:solidFill>
            <a:srgbClr val="122060"/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323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Daily P&amp;L vs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VaR 99%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11680" y="1426464"/>
            <a:ext cx="1508760" cy="1389888"/>
          </a:xfrm>
          <a:prstGeom prst="rect">
            <a:avLst/>
          </a:prstGeom>
          <a:solidFill>
            <a:srgbClr val="0A15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1426464"/>
            <a:ext cx="1508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8840" y="1700784"/>
            <a:ext cx="1234440" cy="658368"/>
          </a:xfrm>
          <a:prstGeom prst="rect">
            <a:avLst/>
          </a:prstGeom>
          <a:solidFill>
            <a:srgbClr val="122060"/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24323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P&amp;L Distribution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(Historical)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75888" y="1426464"/>
            <a:ext cx="1508760" cy="1389888"/>
          </a:xfrm>
          <a:prstGeom prst="rect">
            <a:avLst/>
          </a:prstGeom>
          <a:solidFill>
            <a:srgbClr val="0A1535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5888" y="1426464"/>
            <a:ext cx="150876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13048" y="1700784"/>
            <a:ext cx="1234440" cy="658368"/>
          </a:xfrm>
          <a:prstGeom prst="rect">
            <a:avLst/>
          </a:prstGeom>
          <a:solidFill>
            <a:srgbClr val="122060"/>
          </a:solidFill>
          <a:ln w="635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24323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C4899"/>
                </a:solidFill>
              </a:rPr>
              <a:t>Rolling CVaR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EC4899"/>
                </a:solidFill>
              </a:rPr>
              <a:t>97.5% (FRTB)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7472" y="2980944"/>
            <a:ext cx="1508760" cy="1389888"/>
          </a:xfrm>
          <a:prstGeom prst="rect">
            <a:avLst/>
          </a:prstGeom>
          <a:solidFill>
            <a:srgbClr val="0A15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980944"/>
            <a:ext cx="1508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" y="3255264"/>
            <a:ext cx="1234440" cy="658368"/>
          </a:xfrm>
          <a:prstGeom prst="rect">
            <a:avLst/>
          </a:prstGeom>
          <a:solidFill>
            <a:srgbClr val="122060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9867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Method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Comparison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11680" y="2980944"/>
            <a:ext cx="1508760" cy="1389888"/>
          </a:xfrm>
          <a:prstGeom prst="rect">
            <a:avLst/>
          </a:prstGeom>
          <a:solidFill>
            <a:srgbClr val="0A15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0" y="2980944"/>
            <a:ext cx="1508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48840" y="3255264"/>
            <a:ext cx="1234440" cy="658368"/>
          </a:xfrm>
          <a:prstGeom prst="rect">
            <a:avLst/>
          </a:prstGeom>
          <a:solidFill>
            <a:srgbClr val="122060"/>
          </a:solidFill>
          <a:ln w="635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39867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Cumulative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Breach Count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75888" y="2980944"/>
            <a:ext cx="1508760" cy="1389888"/>
          </a:xfrm>
          <a:prstGeom prst="rect">
            <a:avLst/>
          </a:prstGeom>
          <a:solidFill>
            <a:srgbClr val="0A15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75888" y="2980944"/>
            <a:ext cx="1508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13048" y="3255264"/>
            <a:ext cx="1234440" cy="658368"/>
          </a:xfrm>
          <a:prstGeom prst="rect">
            <a:avLst/>
          </a:prstGeom>
          <a:solidFill>
            <a:srgbClr val="122060"/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75888" y="39867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Asset Volatility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Contribution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0" y="1051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WHAT'S INSIDE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0" y="138988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59552" y="13898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142646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6 Interactive Charts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43600" y="16276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All Plotly — zoom, hover tooltips, click legends to toggle series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486400" y="193852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59552" y="19385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197510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VaR Breach Markers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43600" y="217627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Every exceedance highlighted in real-time with date + magnitude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86400" y="248716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59552" y="24871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📅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0" y="252374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Event Annotations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943600" y="272491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COVID crash &amp; Rate Hike shock marked on time-series charts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486400" y="303580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559552" y="30358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⚖️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43600" y="307238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Method Comparison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943600" y="32735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Side-by-side Historical vs Parametric vs Monte Carlo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486400" y="358444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559552" y="35844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🌊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0" y="362102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Rolling Risk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943600" y="382219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252-day rolling VaR and 1-year rolling CVaR over full period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486400" y="413308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559552" y="41330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🔗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943600" y="416966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Single HTML File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943600" y="43708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No server needed — open in any browser, share by email or URL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28600" y="4626864"/>
            <a:ext cx="8686800" cy="384048"/>
          </a:xfrm>
          <a:prstGeom prst="rect">
            <a:avLst/>
          </a:prstGeom>
          <a:solidFill>
            <a:srgbClr val="09123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462686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🔗  View live dashboard + full source code: </a:t>
            </a:r>
            <a:pPr algn="ctr" indent="0" marL="0">
              <a:buNone/>
            </a:pPr>
            <a:r>
              <a:rPr lang="en-US" sz="850" u="sng" dirty="0">
                <a:solidFill>
                  <a:srgbClr val="0EA5E9"/>
                </a:solidFill>
              </a:rPr>
              <a:t>github.com/kushbhanushali/risklens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RiskLens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6 Findings from a Full Basel III / FRTB Risk Framework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64008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225296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2960" y="12070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Fat Tails Are Real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153619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Historical VaR 99% = $217K — 13% above Parametric. Normal distribution silently understates risk.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00016" y="111556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0016" y="1115568"/>
            <a:ext cx="64008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37176" y="1225296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266944" y="12070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ES Captures More Risk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37176" y="153619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CVaR is 1.35–1.44× VaR. FRTB's switch to ES at 97.5% captures $62K more than VaR 99% equivalent.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235000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350008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" y="245973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22960" y="244144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Model Fails Under Stress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3192" y="277063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Basel RED zone: 41 breaches vs 25.2 expected. Christoffersen test confirms volatility clustering blindspot.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00016" y="235000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2350008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37176" y="2459736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71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266944" y="244144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NVDA Concentration Risk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37176" y="277063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39.9% of tail risk from one 15%-weight position. AI concentration needs position limits or tail hedge.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" y="358444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584448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" y="3694176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05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22960" y="367588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COVID Stress = 2.4× VaR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3192" y="400507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Pandemic drawdowns far exceed normal VaR. GFC hypothetical = −$2.515M instant loss (25% of notional).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00016" y="358444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0016" y="3584448"/>
            <a:ext cx="6400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37176" y="3694176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06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266944" y="367588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FX Diversification Works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37176" y="400507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JPY/USD CVaR = −0.8% — a genuine hedge, not just noise. FX allocation dampens equity tail risk by ~8%.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09123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🔗  Interactive Dashboard + Full Code: </a:t>
            </a:r>
            <a:pPr algn="ctr" indent="0" marL="0">
              <a:buNone/>
            </a:pPr>
            <a:r>
              <a:rPr lang="en-US" sz="800" u="sng" dirty="0">
                <a:solidFill>
                  <a:srgbClr val="3B82F6"/>
                </a:solidFill>
              </a:rPr>
              <a:t>github.com/kushbhanushali/risklens</a:t>
            </a:r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    |    Built with: Python · pandas · NumPy · SciPy · Plotly · FRED API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RiskLens — Market Risk VaR &amp; CVaR Framework</dc:title>
  <dc:subject>PptxGenJS Presentation</dc:subject>
  <dc:creator>Kush Bhanushali</dc:creator>
  <cp:lastModifiedBy>Kush Bhanushali</cp:lastModifiedBy>
  <cp:revision>1</cp:revision>
  <dcterms:created xsi:type="dcterms:W3CDTF">2026-03-17T21:10:31Z</dcterms:created>
  <dcterms:modified xsi:type="dcterms:W3CDTF">2026-03-17T21:10:31Z</dcterms:modified>
</cp:coreProperties>
</file>