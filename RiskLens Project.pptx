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9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ush2071/RiskLens" TargetMode="External"/><Relationship Id="rId4" Type="http://schemas.openxmlformats.org/officeDocument/2006/relationships/hyperlink" Target="https://kush2071.github.io/RiskLens/var_dashboard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ush2071.github.io/RiskLens/var_dashboard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ush2071/RiskLe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109728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64008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0058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2801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9202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2860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65176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92608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32918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6576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411480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RiskLens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85800" y="18105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VaR &amp; CVaR Framework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VaR model passed the Kupiec test.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failed everything else.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$217K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VaR 99%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(Historical)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3464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41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83464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VaR Breaches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vs 25.2 Expected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83480" y="3337560"/>
            <a:ext cx="1920240" cy="1143000"/>
          </a:xfrm>
          <a:prstGeom prst="rect">
            <a:avLst/>
          </a:prstGeom>
          <a:solidFill>
            <a:srgbClr val="12206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−$2.5M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8348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GFC Hypothetical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Instant Loss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912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Kush Bhanushali  ·  MS Quantitative Finance  ·  Python · pandas · NumPy · SciPy · Plotly · FRED API · Basel III / FRTB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</a:rPr>
              <a:t>End-to-end market risk framework  ·  Python  ·  Basel III / FRTB  ·  2015–2024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987552"/>
            <a:ext cx="1591056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152144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77440"/>
            <a:ext cx="1225296" cy="0"/>
          </a:xfrm>
          <a:prstGeom prst="line">
            <a:avLst/>
          </a:prstGeom>
          <a:noFill/>
          <a:ln w="9525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5 equities — Stooq.com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3 FX pairs — FRED API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2,516 trading days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Log returns + dollar P&amp;L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0136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395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138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61388" y="987552"/>
            <a:ext cx="1591056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2596" y="1152144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259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3454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VaR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4268" y="2377440"/>
            <a:ext cx="1225296" cy="0"/>
          </a:xfrm>
          <a:prstGeom prst="line">
            <a:avLst/>
          </a:prstGeom>
          <a:noFill/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282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Historical Simulation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5282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Parametric (Normal)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05282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Monte Carlo 10K sims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5282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252-day rolling window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6158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2160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21608" y="987552"/>
            <a:ext cx="1591056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42816" y="1152144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</a:rPr>
              <a:t>CVaR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</a:rPr>
              <a:t>/ 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04488" y="2377440"/>
            <a:ext cx="1225296" cy="0"/>
          </a:xfrm>
          <a:prstGeom prst="line">
            <a:avLst/>
          </a:prstGeom>
          <a:noFill/>
          <a:ln w="9525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1304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Expected Shortfall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1304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FRTB 97.5% level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1304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Component CVaR by asset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1304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Rolling 1-year CVaR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32180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439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182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1828" y="987552"/>
            <a:ext cx="159105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03036" y="115214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303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5498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Back-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testing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4708" y="2377440"/>
            <a:ext cx="1225296" cy="0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326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Kupiec POF Test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7326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Christoffersen CC Test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7326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Basel Traffic Light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326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Breach clustering analysis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082028" y="2404872"/>
            <a:ext cx="2788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14616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42048" y="987552"/>
            <a:ext cx="1591056" cy="2834640"/>
          </a:xfrm>
          <a:prstGeom prst="rect">
            <a:avLst/>
          </a:prstGeom>
          <a:solidFill>
            <a:srgbClr val="122060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42048" y="987552"/>
            <a:ext cx="1591056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63256" y="1152144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63256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315200" y="181051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Stress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Testing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24928" y="2377440"/>
            <a:ext cx="1225296" cy="0"/>
          </a:xfrm>
          <a:prstGeom prst="line">
            <a:avLst/>
          </a:prstGeom>
          <a:noFill/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3348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Q4 2018 Selloff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33488" y="277977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COVID Crash 2020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33488" y="3090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Rate Hike Shock 2022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33488" y="3401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</a:rPr>
              <a:t>· 4 hypothetical shocks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0" y="3950208"/>
            <a:ext cx="9144000" cy="1188720"/>
          </a:xfrm>
          <a:prstGeom prst="rect">
            <a:avLst/>
          </a:prstGeom>
          <a:solidFill>
            <a:srgbClr val="091234"/>
          </a:solidFill>
          <a:ln w="12700">
            <a:solidFill>
              <a:srgbClr val="09123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023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3B82F6"/>
                </a:solidFill>
              </a:rPr>
              <a:t>TECH STACK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</a:rPr>
              <a:t>Python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14300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4300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</a:rPr>
              <a:t>pandas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96596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6596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</a:rPr>
              <a:t>NumPy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8892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8892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C4899"/>
                </a:solidFill>
              </a:rPr>
              <a:t>SciPy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1188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1188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</a:rPr>
              <a:t>Plotly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434840" y="4279392"/>
            <a:ext cx="749808" cy="256032"/>
          </a:xfrm>
          <a:prstGeom prst="rect">
            <a:avLst/>
          </a:prstGeom>
          <a:solidFill>
            <a:srgbClr val="1220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3484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FRED API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04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Basel III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14300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4300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FRTB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96596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6596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Kupiec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78892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8892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Christoffersen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61188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1188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Monte Carlo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434840" y="4590288"/>
            <a:ext cx="749808" cy="237744"/>
          </a:xfrm>
          <a:prstGeom prst="rect">
            <a:avLst/>
          </a:prstGeom>
          <a:solidFill>
            <a:srgbClr val="12206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34840" y="45902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</a:rPr>
              <a:t>Stooq.com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39496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59E0B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394960" y="4261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📈  </a:t>
            </a:r>
            <a:r>
              <a:rPr lang="en-US" sz="850" b="1" dirty="0">
                <a:solidFill>
                  <a:srgbClr val="3B82F6"/>
                </a:solidFill>
              </a:rPr>
              <a:t>Stooq.com  </a:t>
            </a:r>
            <a:r>
              <a:rPr lang="en-US" sz="800" dirty="0">
                <a:solidFill>
                  <a:srgbClr val="CADCFC"/>
                </a:solidFill>
              </a:rPr>
              <a:t>NVDA · JPM · XOM · JNJ · SPY (daily OHLCV)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39496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🏦  </a:t>
            </a:r>
            <a:r>
              <a:rPr lang="en-US" sz="850" b="1" dirty="0">
                <a:solidFill>
                  <a:srgbClr val="10B981"/>
                </a:solidFill>
              </a:rPr>
              <a:t>FRED API  </a:t>
            </a:r>
            <a:r>
              <a:rPr lang="en-US" sz="800" dirty="0">
                <a:solidFill>
                  <a:srgbClr val="CADCFC"/>
                </a:solidFill>
              </a:rPr>
              <a:t>EUR/USD · GBP/USD · JPY/USD (daily FX rates)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394960" y="4809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📐  </a:t>
            </a:r>
            <a:r>
              <a:rPr lang="en-US" sz="850" b="1" dirty="0">
                <a:solidFill>
                  <a:srgbClr val="F59E0B"/>
                </a:solidFill>
              </a:rPr>
              <a:t>Portfolio  </a:t>
            </a:r>
            <a:r>
              <a:rPr lang="en-US" sz="800" dirty="0">
                <a:solidFill>
                  <a:srgbClr val="CADCFC"/>
                </a:solidFill>
              </a:rPr>
              <a:t>60% equities · 40% FX · $10M notional · log returns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Portfolio Overview — 10 Years, 8 Assets, $10M</a:t>
            </a:r>
            <a:endParaRPr lang="en-US" sz="2000" dirty="0"/>
          </a:p>
        </p:txBody>
      </p:sp>
      <p:pic>
        <p:nvPicPr>
          <p:cNvPr id="7" name="Image 0" descr="/home/claude/ph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32688"/>
            <a:ext cx="4134689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987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KEY METRICS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89320" y="1298448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298448"/>
            <a:ext cx="138988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408176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2,516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1781251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Trading Days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98080" y="1298448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1298448"/>
            <a:ext cx="138988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1408176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1781251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Assets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2194560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2194560"/>
            <a:ext cx="13898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304288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$10M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989320" y="2677363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Notional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498080" y="2194560"/>
            <a:ext cx="1389888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2194560"/>
            <a:ext cx="13898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2304288"/>
            <a:ext cx="1389888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150×+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498080" y="2677363"/>
            <a:ext cx="13898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NVDA Return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89320" y="3108960"/>
            <a:ext cx="2971800" cy="14813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9320" y="3108960"/>
            <a:ext cx="54864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Portfolio P&amp;L Highlights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26480" y="34930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VaR 95%: </a:t>
            </a:r>
            <a:r>
              <a:rPr lang="en-US" sz="850" dirty="0">
                <a:solidFill>
                  <a:srgbClr val="CADCFC"/>
                </a:solidFill>
              </a:rPr>
              <a:t>$126K daily loss threshold
</a:t>
            </a:r>
            <a:r>
              <a:rPr lang="en-US" sz="850" b="1" dirty="0">
                <a:solidFill>
                  <a:srgbClr val="EF4444"/>
                </a:solidFill>
              </a:rPr>
              <a:t>VaR 99%: </a:t>
            </a:r>
            <a:r>
              <a:rPr lang="en-US" sz="850" dirty="0">
                <a:solidFill>
                  <a:srgbClr val="CADCFC"/>
                </a:solidFill>
              </a:rPr>
              <a:t>$217K — fat left tail confirmed
</a:t>
            </a:r>
            <a:r>
              <a:rPr lang="en-US" sz="850" b="1" dirty="0">
                <a:solidFill>
                  <a:srgbClr val="0EA5E9"/>
                </a:solidFill>
              </a:rPr>
              <a:t>Portfolio: </a:t>
            </a:r>
            <a:r>
              <a:rPr lang="en-US" sz="850" dirty="0">
                <a:solidFill>
                  <a:srgbClr val="CADCFC"/>
                </a:solidFill>
              </a:rPr>
              <a:t>$10M → $32M over 10 years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Data: Stooq.com (equities) · FRED API (FX) · 60% equities / 40% FX by notional weight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at Risk (VaR) — the daily loss you won't exceed 99% of the time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What is Value at Risk (VaR)?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question it answers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If markets move against me tomorrow, what is the worst loss I should expect on a normal day?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Rank all historical daily P&amp;L from worst to best. VaR 99% is the loss at the 1st percentile — only 1% of days were worse.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Three methods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Historical (use real past data), Parametric (assume normal distribution), Monte Carlo (simulate thousands of random scenarios).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The regulatory context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Banks must calculate VaR daily under Basel III. If actual losses exceed VaR too often, regulators impose higher capital charges.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Historical VaR 99% = $217K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On any given day, there is a 1% chance the portfolio loses more than $217K. This is the most conservative of the three methods.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13% fat-tail premium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Historical VaR is $217K vs Parametric's $199K. The gap exists because real returns have heavier tails than a normal distribution.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VaR 95% = $126K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 the 95% confidence level, losses exceed $126K only 1 day in 20. Used as a lower-stakes daily risk check.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Q-Q plot confirms non-normality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The quantile-quantile plot shows returns deviate significantly from the normal fit at the extremes — fat tails are real.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VaR Model Comparison — Three Methods, One Portfolio</a:t>
            </a:r>
            <a:endParaRPr lang="en-US" sz="2000" dirty="0"/>
          </a:p>
        </p:txBody>
      </p:sp>
      <p:pic>
        <p:nvPicPr>
          <p:cNvPr id="7" name="Image 0" descr="/home/claude/ph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767" y="932688"/>
            <a:ext cx="4088465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4041648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Historical  </a:t>
            </a:r>
            <a:r>
              <a:rPr lang="en-US" sz="750" dirty="0">
                <a:solidFill>
                  <a:srgbClr val="CADCFC"/>
                </a:solidFill>
              </a:rPr>
              <a:t>Non-parametric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$126K   </a:t>
            </a:r>
            <a:r>
              <a:rPr lang="en-US" sz="800" b="1" dirty="0">
                <a:solidFill>
                  <a:srgbClr val="EF4444"/>
                </a:solidFill>
              </a:rPr>
              <a:t>99%: $217K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92608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C"/>
                </a:solidFill>
              </a:rPr>
              <a:t>Highest 99% — fat tails captured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182112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4041648"/>
            <a:ext cx="281635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3552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Parametric  </a:t>
            </a:r>
            <a:r>
              <a:rPr lang="en-US" sz="750" dirty="0">
                <a:solidFill>
                  <a:srgbClr val="CADCFC"/>
                </a:solidFill>
              </a:rPr>
              <a:t>Normal dist.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73552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$140K   </a:t>
            </a:r>
            <a:r>
              <a:rPr lang="en-US" sz="800" b="1" dirty="0">
                <a:solidFill>
                  <a:srgbClr val="EF4444"/>
                </a:solidFill>
              </a:rPr>
              <a:t>99%: $199K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73552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C"/>
                </a:solidFill>
              </a:rPr>
              <a:t>Underestimates tail by 8.3%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163056" y="4041648"/>
            <a:ext cx="2816352" cy="658368"/>
          </a:xfrm>
          <a:prstGeom prst="rect">
            <a:avLst/>
          </a:prstGeom>
          <a:solidFill>
            <a:srgbClr val="0D1B4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63056" y="4041648"/>
            <a:ext cx="281635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411480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Monte Carlo  </a:t>
            </a:r>
            <a:r>
              <a:rPr lang="en-US" sz="750" dirty="0">
                <a:solidFill>
                  <a:srgbClr val="CADCFC"/>
                </a:solidFill>
              </a:rPr>
              <a:t>10,000 sims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54496" y="4315968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95%: $135K   </a:t>
            </a:r>
            <a:r>
              <a:rPr lang="en-US" sz="800" b="1" dirty="0">
                <a:solidFill>
                  <a:srgbClr val="EF4444"/>
                </a:solidFill>
              </a:rPr>
              <a:t>99%: $192K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54496" y="450799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C"/>
                </a:solidFill>
              </a:rPr>
              <a:t>Most conservative at 95%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Q-Q plot confirms fat tails — Historical VaR 99% = $217K is 13% above Parametric. Normal distribution materially understates tail risk.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CVaR / Expected Shortfall — the average loss in the worst 2.5% of scenarios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</a:rPr>
              <a:t>What is CVaR / Expected Shortfall?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The problem with VaR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VaR tells you the threshold — 'you won't lose more than $217K on 99% of days.' But it says nothing about how bad the worst 1% of days actually are.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What CVaR adds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CVaR (also called Expected Shortfall) averages all the losses beyond the VaR threshold. It answers: 'when things go really wrong, how bad does it get?'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Why regulators prefer 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Basel FRTB (2019) replaced VaR 99% with ES 97.5% as the standard capital measure. ES is more sensitive to tail severity and penalises extreme losses properly.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Component CVaR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You can decompose ES by asset to see which position drives tail risk. This reveals hidden concentrations that portfolio-level VaR obscures.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CVaR is 1.35–1.44× VaR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 every confidence level, ES exceeds VaR by 35–44%. FRTB's switch from VaR 99% to ES 97.5% captures $59K more potential loss.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NVDA = 39.9% of tail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 only 15% portfolio weight, NVDA drives 39.9% of Expected Shortfall. A single AI regulation event could breach risk limits.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JPY/USD is a genuine hedge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Component CVaR for JPY/USD = −0.8%. The yen position actively reduces tail risk — it's not just uncorrelated, it's protective.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COVID spike: $0.50M 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Rolling 1-year CVaR spiked from $0.18M to $0.50M in March 2020 — a 3× jump in just weeks, showing tail risk is time-varying.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Expected Shortfall (CVaR) — What VaR Doesn't Tell You</a:t>
            </a:r>
            <a:endParaRPr lang="en-US" sz="2000" dirty="0"/>
          </a:p>
        </p:txBody>
      </p:sp>
      <p:pic>
        <p:nvPicPr>
          <p:cNvPr id="7" name="Image 0" descr="/home/claude/phas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32688"/>
            <a:ext cx="5020235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275" y="987552"/>
            <a:ext cx="3666565" cy="1261872"/>
          </a:xfrm>
          <a:prstGeom prst="rect">
            <a:avLst/>
          </a:prstGeom>
          <a:solidFill>
            <a:srgbClr val="0D1B4B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40275" y="987552"/>
            <a:ext cx="54864" cy="1261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291" y="1033272"/>
            <a:ext cx="34836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Why Basel FRTB Switched to 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68291" y="1307592"/>
            <a:ext cx="348368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VaR only tells you the loss threshold.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ES averages ALL losses beyond it.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FRTB mandates ES at 97.5%, replacing VaR 99%.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0275" y="2340864"/>
          <a:ext cx="3666565" cy="1234440"/>
        </p:xfrm>
        <a:graphic>
          <a:graphicData uri="http://schemas.openxmlformats.org/drawingml/2006/table">
            <a:tbl>
              <a:tblPr/>
              <a:tblGrid>
                <a:gridCol w="117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VaR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C4899"/>
                          </a:solidFill>
                        </a:rPr>
                        <a:t>CVaR / 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ES/VaR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95%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$127K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$183K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1.44×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97.5% (FRTB)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$162K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$221K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1.36×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99%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$217K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$298K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1.37×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340275" y="3657600"/>
            <a:ext cx="3666565" cy="53035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31715" y="3675888"/>
            <a:ext cx="352940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</a:rPr>
              <a:t>⚠  NVDA (15% weight) = 39.9% of tail risk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</a:rPr>
              <a:t>JPY/USD (10% weight) = −0.8% (genuine hedge)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Rolling 1-year CVaR spiked from $0.18M → $0.50M during COVID (2020) — 3× the normal baseline. Tail risk is not stable over time.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Backtesting — checking whether your risk model predicted reality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114800" cy="3749040"/>
          </a:xfrm>
          <a:prstGeom prst="rect">
            <a:avLst/>
          </a:prstGeom>
          <a:solidFill>
            <a:srgbClr val="0D1B4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What is Backtesting?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The basic idea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After building a VaR model, you test it: compare what the model predicted each day against what actually happened. Did losses exceed VaR more or less than expected?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Kupiec POF 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615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Tests whether the number of VaR breaches is statistically reasonable. At VaR 99%, you expect 1% of days to breach — too many or too few both signal model failure.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03580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Christoffersen CC Test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Goes further: checks whether breaches cluster in time. A good model should have independent breaches. Clustered breaches mean the model is blind to volatility regimes.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Basel Traffic Light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Regulators categorise models: Green (0–4 breaches/year, 3× capital multiplier), Yellow (5–9), Red (10+, 4× multiplier). Red zone means higher capital requirements.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960120"/>
            <a:ext cx="43891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960120"/>
            <a:ext cx="43891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097280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What I Found in This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Kupiec Test: PASS (VaR 95%)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 the 95% confidence level, the model performs statistically well — breach frequency is within expected bounds (p = 0.87).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37744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95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Christoffersen Test: FAIL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Clustering ratio = 2.45×. Breaches are not independent — they arrive in groups during stress periods, not randomly throughout the year.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3035808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3054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VaR 99% Overall: FAIL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41 actual breaches vs 25.2 expected. The model significantly underestimates tail risk at the 99% level over the full 9-year period.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36592" y="369417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712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Basel RED zone — 4.0× multiplier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931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10+ annual breaches puts the portfolio in Basel's Red zone. This would trigger a 4× capital multiplier on market risk RWA in a real bank.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RiskLens  ·  Kush Bhanushali  ·  MS Quantitative Finance  ·  Basel III / FRTB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Backtesting — The Model Fails When It Matters Most</a:t>
            </a:r>
            <a:endParaRPr lang="en-US" sz="2000" dirty="0"/>
          </a:p>
        </p:txBody>
      </p:sp>
      <p:pic>
        <p:nvPicPr>
          <p:cNvPr id="7" name="Image 0" descr="/home/claude/phas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32688"/>
            <a:ext cx="4991548" cy="3182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11588" y="1005840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11588" y="100584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39604" y="1060704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Kupiec POF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39604" y="1298448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PASS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39604" y="1517904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VaR 95%: p = 0.87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311588" y="1847088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11588" y="1847088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9604" y="1901952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Christoffersen CC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39604" y="2139696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 FAIL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39604" y="2359152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Clustering ratio = 2.45×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311588" y="2688336"/>
            <a:ext cx="3695252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11588" y="2688336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9604" y="2743200"/>
            <a:ext cx="3512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</a:rPr>
              <a:t>VaR 99% Overall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39604" y="2980944"/>
            <a:ext cx="35123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 FAIL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39604" y="3200400"/>
            <a:ext cx="3512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41 actual vs 25.2 expected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11588" y="3566160"/>
            <a:ext cx="3695252" cy="566928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84740" y="3593592"/>
            <a:ext cx="3585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🔴  Basel RED Zone — 4.0× Capital Multiplier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84740" y="3840480"/>
            <a:ext cx="3585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1B1B"/>
                </a:solidFill>
              </a:rPr>
              <a:t>Breaches: 10+  →  Regulatory penalty triggered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COVID cluster: 8 breaches in a single month (Feb–Mar 2020). The model cannot distinguish calm from stressed regimes — Christoffersen test FAIL confirms regime-blindness.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7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61872" y="91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Stress Testing — What Happens When Models Break Down</a:t>
            </a:r>
            <a:endParaRPr lang="en-US" sz="2000" dirty="0"/>
          </a:p>
        </p:txBody>
      </p:sp>
      <p:pic>
        <p:nvPicPr>
          <p:cNvPr id="7" name="Image 0" descr="/home/claude/phas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32688"/>
            <a:ext cx="4999390" cy="3182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19430" y="987552"/>
            <a:ext cx="36874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SHOCK SCENARIOS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19430" y="1316736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19430" y="131673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7446" y="1353312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GFC 2008 (Hypothetical)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47446" y="1591056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−$2.515M  </a:t>
            </a:r>
            <a:r>
              <a:rPr lang="en-US" sz="750" dirty="0">
                <a:solidFill>
                  <a:srgbClr val="64748B"/>
                </a:solidFill>
              </a:rPr>
              <a:t>25% of notional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19430" y="1975104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19430" y="1975104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7446" y="2011680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Equity Crash −20%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47446" y="2249424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−$1.375M  </a:t>
            </a:r>
            <a:r>
              <a:rPr lang="en-US" sz="750" dirty="0">
                <a:solidFill>
                  <a:srgbClr val="64748B"/>
                </a:solidFill>
              </a:rPr>
              <a:t>13.75% of notional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19430" y="2633472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19430" y="263347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7446" y="2670048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AI Regulation Shock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47446" y="2907792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−$0.475M  </a:t>
            </a:r>
            <a:r>
              <a:rPr lang="en-US" sz="750" dirty="0">
                <a:solidFill>
                  <a:srgbClr val="64748B"/>
                </a:solidFill>
              </a:rPr>
              <a:t>NVDA single event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19430" y="3291840"/>
            <a:ext cx="368741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19430" y="329184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7446" y="3328416"/>
            <a:ext cx="3504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Energy Shock +30%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47446" y="3566160"/>
            <a:ext cx="350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+$0.025M  </a:t>
            </a:r>
            <a:r>
              <a:rPr lang="en-US" sz="750" dirty="0">
                <a:solidFill>
                  <a:srgbClr val="64748B"/>
                </a:solidFill>
              </a:rPr>
              <a:t>XOM hedge benefit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COVID stress multiplier = 2.4× VaR. Rate Hike Shock 2022 = 2.4× VaR. Historical VaR is not stress VaR — they measure fundamentally different risk regimes.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804672"/>
          </a:xfrm>
          <a:prstGeom prst="rect">
            <a:avLst/>
          </a:prstGeom>
          <a:solidFill>
            <a:srgbClr val="122060"/>
          </a:solidFill>
          <a:ln w="12700">
            <a:solidFill>
              <a:srgbClr val="12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Interactive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</a:rPr>
              <a:t>Live Plotly HTML  ·  6 charts  ·  Full code on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5029200" cy="3474720"/>
          </a:xfrm>
          <a:prstGeom prst="rect">
            <a:avLst/>
          </a:prstGeom>
          <a:solidFill>
            <a:srgbClr val="12206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3" name="Dashboard Screenshot" descr="Market Risk VaR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024890"/>
            <a:ext cx="4990100" cy="343772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228600" y="1005840"/>
            <a:ext cx="5029200" cy="320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0972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042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hlinkClick r:id="rId4"/>
              </a:rPr>
              <a:t>kush2071.github.io/RiskLens/var_dashboard.html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051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EA5E9"/>
                </a:solidFill>
              </a:rPr>
              <a:t>WHAT'S INSIDE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138988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59552" y="13898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14264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6 Interactive Charts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0" y="16276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All Plotly — zoom, hover tooltips, click legends to toggle series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0" y="193852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59552" y="19385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19751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VaR Breach Markers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21762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Every exceedance highlighted in real-time with date + magnitude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0" y="248716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59552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25237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Event Annotations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27249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COVID crash &amp; Rate Hike shock marked on time-series charts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86400" y="303580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59552" y="3035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⚖️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30723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Method Comparison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43600" y="32735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Side-by-side Historical vs Parametric vs Monte Carlo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86400" y="358444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59552" y="35844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🌊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6210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Rolling Risk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38221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252-day rolling VaR and 1-year rolling CVaR over full period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86400" y="4133088"/>
            <a:ext cx="3429000" cy="457200"/>
          </a:xfrm>
          <a:prstGeom prst="rect">
            <a:avLst/>
          </a:prstGeom>
          <a:solidFill>
            <a:srgbClr val="122060"/>
          </a:solidFill>
          <a:ln w="9525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559552" y="41330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43600" y="41696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Single HTML File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943600" y="4370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No server needed — open in any browser, share by email or URL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28600" y="4626864"/>
            <a:ext cx="8686800" cy="384048"/>
          </a:xfrm>
          <a:prstGeom prst="rect">
            <a:avLst/>
          </a:prstGeom>
          <a:solidFill>
            <a:srgbClr val="09123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6268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DCFC"/>
                </a:solidFill>
              </a:rPr>
              <a:t>🔗  Live Dashboard: </a:t>
            </a:r>
            <a:r>
              <a:rPr lang="en-US" sz="850" u="sng" dirty="0">
                <a:solidFill>
                  <a:srgbClr val="0EA5E9"/>
                </a:solidFill>
                <a:hlinkClick r:id="rId4"/>
              </a:rPr>
              <a:t>kush2071.github.io/RiskLens/var_dashboard.html</a:t>
            </a:r>
            <a:r>
              <a:rPr lang="en-US" sz="850" b="1" dirty="0">
                <a:solidFill>
                  <a:srgbClr val="CADCFC"/>
                </a:solidFill>
              </a:rPr>
              <a:t>   |   📂  Full Code: </a:t>
            </a:r>
            <a:r>
              <a:rPr lang="en-US" sz="850" u="sng" dirty="0">
                <a:solidFill>
                  <a:srgbClr val="0EA5E9"/>
                </a:solidFill>
                <a:hlinkClick r:id="rId5"/>
              </a:rPr>
              <a:t>github.com/Kush2071/RiskLens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RiskLens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</a:rPr>
              <a:t>6 Findings from a Full Basel III / FRTB Risk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225296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Fat Tails Are Real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3619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Historical VaR 99% = $217K — 13% above Parametric. Normal distribution silently understates risk.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115568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122529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66944" y="1207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</a:rPr>
              <a:t>ES Captures More 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37176" y="153619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CVaR is 1.35–1.44× VaR. FRTB's switch to ES at 97.5% captures $62K more than VaR 99% equivalent.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235000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350008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45973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2960" y="244144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Model Fails Under Stress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" y="277063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Basel RED zone: 41 breaches vs 25.2 expected. Christoffersen test confirms volatility clustering blindspot.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0016" y="235000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2350008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7176" y="245973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66944" y="244144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NVDA Concentration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37176" y="277063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39.9% of tail risk from one 15%-weight position. AI concentration needs position limits or tail hedge.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584448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69417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2960" y="36758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COVID Stress = 2.4× VaR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3192" y="400507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Pandemic drawdowns far exceed normal VaR. GFC hypothetical = −$2.515M instant loss (25% of notional).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0016" y="3584448"/>
            <a:ext cx="4160520" cy="1097280"/>
          </a:xfrm>
          <a:prstGeom prst="rect">
            <a:avLst/>
          </a:prstGeom>
          <a:solidFill>
            <a:srgbClr val="12206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3584448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37176" y="3694176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266944" y="36758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</a:rPr>
              <a:t>FX Diversification Works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37176" y="4005072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</a:rPr>
              <a:t>JPY/USD CVaR = −0.8% — a genuine hedge, not just noise. FX allocation dampens equity tail risk by ~8%.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09123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🔗  Live Dashboard: </a:t>
            </a:r>
            <a:r>
              <a:rPr lang="en-US" sz="800" u="sng" dirty="0">
                <a:solidFill>
                  <a:srgbClr val="3B82F6"/>
                </a:solidFill>
                <a:hlinkClick r:id="rId3"/>
              </a:rPr>
              <a:t>kush2071.github.io/RiskLens/var_dashboard.html</a:t>
            </a:r>
            <a:r>
              <a:rPr lang="en-US" sz="800" b="1" dirty="0">
                <a:solidFill>
                  <a:srgbClr val="CADCFC"/>
                </a:solidFill>
              </a:rPr>
              <a:t>   |   📂  Full Code: </a:t>
            </a:r>
            <a:r>
              <a:rPr lang="en-US" sz="800" u="sng" dirty="0">
                <a:solidFill>
                  <a:srgbClr val="3B82F6"/>
                </a:solidFill>
                <a:hlinkClick r:id="rId4"/>
              </a:rPr>
              <a:t>github.com/Kush2071/RiskLens</a:t>
            </a:r>
            <a:r>
              <a:rPr lang="en-US" sz="750" dirty="0">
                <a:solidFill>
                  <a:srgbClr val="64748B"/>
                </a:solidFill>
              </a:rPr>
              <a:t>    |    Built with: Python · pandas · NumPy · SciPy · Plotly · FRED API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2012</Words>
  <Application>Microsoft Office PowerPoint</Application>
  <PresentationFormat>On-screen Show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 — Market Risk VaR &amp; CVaR Framework</dc:title>
  <dc:subject>PptxGenJS Presentation</dc:subject>
  <dc:creator>Kush Bhanushali</dc:creator>
  <cp:lastModifiedBy>Kush Bhanushali</cp:lastModifiedBy>
  <cp:revision>2</cp:revision>
  <dcterms:created xsi:type="dcterms:W3CDTF">2026-03-17T21:10:31Z</dcterms:created>
  <dcterms:modified xsi:type="dcterms:W3CDTF">2026-03-18T16:13:35Z</dcterms:modified>
</cp:coreProperties>
</file>